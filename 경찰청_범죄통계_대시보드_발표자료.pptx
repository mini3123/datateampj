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843784"/>
            <a:ext cx="12188952" cy="1417320"/>
          </a:xfrm>
          <a:prstGeom prst="rect">
            <a:avLst/>
          </a:prstGeom>
          <a:solidFill>
            <a:srgbClr val="1A4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D6EE"/>
                </a:solidFill>
                <a:latin typeface="맑은 고딕"/>
              </a:rPr>
              <a:t>경찰청 · Korea National Police Agency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맑은 고딕"/>
              </a:rPr>
              <a:t>경찰청 범죄 통계 대시보드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07792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FFFFFF"/>
                </a:solidFill>
                <a:latin typeface="맑은 고딕"/>
              </a:rPr>
              <a:t>공공데이터 기반 범죄 패턴 분석 및 AI 안전 상담 서비스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29000"/>
            <a:ext cx="11091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8C4F8"/>
                </a:solidFill>
                <a:latin typeface="맑은 고딕"/>
              </a:rPr>
              <a:t>Python  ·  Streamlit  ·  Plotly  ·  Gemini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1792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99BB"/>
                </a:solidFill>
                <a:latin typeface="맑은 고딕"/>
              </a:rPr>
              <a:t>데이터 출처 : 경찰청 공공데이터포털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659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E"/>
                </a:solidFill>
                <a:latin typeface="맑은 고딕"/>
              </a:rPr>
              <a:t>Contents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39496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02920" cy="777240"/>
          </a:xfrm>
          <a:prstGeom prst="rect">
            <a:avLst/>
          </a:prstGeom>
          <a:solidFill>
            <a:srgbClr val="0D2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1907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737360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D2461"/>
                </a:solidFill>
                <a:latin typeface="맑은 고딕"/>
              </a:rPr>
              <a:t>프로젝트 배경 및 목적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539496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554480"/>
            <a:ext cx="502920" cy="777240"/>
          </a:xfrm>
          <a:prstGeom prst="rect">
            <a:avLst/>
          </a:prstGeom>
          <a:solidFill>
            <a:srgbClr val="0D2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71907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1737360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D2461"/>
                </a:solidFill>
                <a:latin typeface="맑은 고딕"/>
              </a:rPr>
              <a:t>사용 데이터 소개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560320"/>
            <a:ext cx="539496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560320"/>
            <a:ext cx="502920" cy="777240"/>
          </a:xfrm>
          <a:prstGeom prst="rect">
            <a:avLst/>
          </a:prstGeom>
          <a:solidFill>
            <a:srgbClr val="0D2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72491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743200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D2461"/>
                </a:solidFill>
                <a:latin typeface="맑은 고딕"/>
              </a:rPr>
              <a:t>기술 스택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560320"/>
            <a:ext cx="539496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2560320"/>
            <a:ext cx="502920" cy="777240"/>
          </a:xfrm>
          <a:prstGeom prst="rect">
            <a:avLst/>
          </a:prstGeom>
          <a:solidFill>
            <a:srgbClr val="0D2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272491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2743200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D2461"/>
                </a:solidFill>
                <a:latin typeface="맑은 고딕"/>
              </a:rPr>
              <a:t>기능 소개 — 시간대 &amp; 요일 분석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566160"/>
            <a:ext cx="539496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566160"/>
            <a:ext cx="502920" cy="777240"/>
          </a:xfrm>
          <a:prstGeom prst="rect">
            <a:avLst/>
          </a:prstGeom>
          <a:solidFill>
            <a:srgbClr val="0D2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73075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3749040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D2461"/>
                </a:solidFill>
                <a:latin typeface="맑은 고딕"/>
              </a:rPr>
              <a:t>기능 소개 — 장소별 통계 분석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3566160"/>
            <a:ext cx="539496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3566160"/>
            <a:ext cx="502920" cy="777240"/>
          </a:xfrm>
          <a:prstGeom prst="rect">
            <a:avLst/>
          </a:prstGeom>
          <a:solidFill>
            <a:srgbClr val="0D2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373075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3749040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D2461"/>
                </a:solidFill>
                <a:latin typeface="맑은 고딕"/>
              </a:rPr>
              <a:t>기능 소개 — 안전이 챗봇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572000"/>
            <a:ext cx="539496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4572000"/>
            <a:ext cx="502920" cy="777240"/>
          </a:xfrm>
          <a:prstGeom prst="rect">
            <a:avLst/>
          </a:prstGeom>
          <a:solidFill>
            <a:srgbClr val="0D2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473659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4754880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D2461"/>
                </a:solidFill>
                <a:latin typeface="맑은 고딕"/>
              </a:rPr>
              <a:t>주요 분석 결과 및 인사이트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4572000"/>
            <a:ext cx="539496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9360" y="4572000"/>
            <a:ext cx="502920" cy="777240"/>
          </a:xfrm>
          <a:prstGeom prst="rect">
            <a:avLst/>
          </a:prstGeom>
          <a:solidFill>
            <a:srgbClr val="0D2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473659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4754880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D2461"/>
                </a:solidFill>
                <a:latin typeface="맑은 고딕"/>
              </a:rPr>
              <a:t>기대 효과 및 활용 방안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577840"/>
            <a:ext cx="539496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5577840"/>
            <a:ext cx="502920" cy="777240"/>
          </a:xfrm>
          <a:prstGeom prst="rect">
            <a:avLst/>
          </a:prstGeom>
          <a:solidFill>
            <a:srgbClr val="0D2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574243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" y="5760720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D2461"/>
                </a:solidFill>
                <a:latin typeface="맑은 고딕"/>
              </a:rPr>
              <a:t>한계점 및 개선 방향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659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프로젝트 배경 및 목적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E"/>
                </a:solidFill>
                <a:latin typeface="맑은 고딕"/>
              </a:rPr>
              <a:t>Background &amp; Purpose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539496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64008" cy="2194560"/>
          </a:xfrm>
          <a:prstGeom prst="rect">
            <a:avLst/>
          </a:prstGeom>
          <a:solidFill>
            <a:srgbClr val="1A4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1848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4DB3"/>
                </a:solidFill>
                <a:latin typeface="맑은 고딕"/>
              </a:rPr>
              <a:t>BACKGROUND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3794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2461"/>
                </a:solidFill>
                <a:latin typeface="맑은 고딕"/>
              </a:rPr>
              <a:t>프로젝트 배경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94560"/>
            <a:ext cx="5166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국내 범죄 발생 건수 연간 150만 건 이상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시민들의 범죄 위험 정보 접근성 부족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공공데이터는 있지만 일반인이 해석하기 어려움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안전한 일상을 위한 직관적 정보 서비스 필요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508760"/>
            <a:ext cx="539496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508760"/>
            <a:ext cx="64008" cy="2194560"/>
          </a:xfrm>
          <a:prstGeom prst="rect">
            <a:avLst/>
          </a:prstGeom>
          <a:solidFill>
            <a:srgbClr val="1A4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61848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4DB3"/>
                </a:solidFill>
                <a:latin typeface="맑은 고딕"/>
              </a:rPr>
              <a:t>PURPOSE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83794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2461"/>
                </a:solidFill>
                <a:latin typeface="맑은 고딕"/>
              </a:rPr>
              <a:t>프로젝트 목적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194560"/>
            <a:ext cx="5166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경찰청 공공데이터를 누구나 쉽게 이해할 수 있도록 시각화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시간대·장소별 범죄 패턴 분석으로 위험도 파악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AI 챗봇으로 개인 맞춤형 안전 정보 제공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데이터 기반 범죄 예방 문화 확산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931920"/>
            <a:ext cx="11338560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931920"/>
            <a:ext cx="64008" cy="26060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041648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9A84C"/>
                </a:solidFill>
                <a:latin typeface="맑은 고딕"/>
              </a:rPr>
              <a:t>GOAL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261104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2461"/>
                </a:solidFill>
                <a:latin typeface="맑은 고딕"/>
              </a:rPr>
              <a:t>최종 목표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617720"/>
            <a:ext cx="11109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언제 어디서든 범죄 통계를 쉽게 확인하고, AI와 대화하며 내 상황에 맞는 안전 수칙을 받을 수 있는 웹 서비스 구축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659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사용 데이터 소개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E"/>
                </a:solidFill>
                <a:latin typeface="맑은 고딕"/>
              </a:rPr>
              <a:t>Data 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557784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64008" cy="4480560"/>
          </a:xfrm>
          <a:prstGeom prst="rect">
            <a:avLst/>
          </a:prstGeom>
          <a:solidFill>
            <a:srgbClr val="1A4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1848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4DB3"/>
                </a:solidFill>
                <a:latin typeface="맑은 고딕"/>
              </a:rPr>
              <a:t>DATASET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37944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2461"/>
                </a:solidFill>
                <a:latin typeface="맑은 고딕"/>
              </a:rPr>
              <a:t>범죄 발생 시간대 및 요일 통계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94560"/>
            <a:ext cx="53492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출처: 경찰청 공공데이터포털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기준: 2019년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내용: 8개 시간대 구간별 범죄 발생 건수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      요일(월~일)별 범죄 발생 건수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      범죄 대분류 / 중분류 구분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활용: 시간대·요일 분석, 위험도 게이지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508760"/>
            <a:ext cx="557784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508760"/>
            <a:ext cx="64008" cy="4480560"/>
          </a:xfrm>
          <a:prstGeom prst="rect">
            <a:avLst/>
          </a:prstGeom>
          <a:solidFill>
            <a:srgbClr val="1A4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61848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4DB3"/>
                </a:solidFill>
                <a:latin typeface="맑은 고딕"/>
              </a:rPr>
              <a:t>DATASET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837944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2461"/>
                </a:solidFill>
                <a:latin typeface="맑은 고딕"/>
              </a:rPr>
              <a:t>범죄 발생 장소별 통계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194560"/>
            <a:ext cx="53492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출처: 경찰청 공공데이터포털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기준: 2024년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내용: 62개 장소 유형별 범죄 발생 건수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      범죄 대분류 / 중분류 구분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장소 카테고리: 주거시설, 도로/교통,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      상업시설, 유흥/숙박, 공공/교육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활용: 장소별 통계 분석, 챗봇 정보 제공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659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기술 스택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E"/>
                </a:solidFill>
                <a:latin typeface="맑은 고딕"/>
              </a:rPr>
              <a:t>Tech 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34747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3474720" cy="73152"/>
          </a:xfrm>
          <a:prstGeom prst="rect">
            <a:avLst/>
          </a:prstGeom>
          <a:solidFill>
            <a:srgbClr val="1A4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1848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4DB3"/>
                </a:solidFill>
                <a:latin typeface="맑은 고딕"/>
              </a:rPr>
              <a:t>핵심 언어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5623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461"/>
                </a:solidFill>
                <a:latin typeface="맑은 고딕"/>
              </a:rPr>
              <a:t>Python 3.x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860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A7485"/>
                </a:solidFill>
                <a:latin typeface="맑은 고딕"/>
              </a:rPr>
              <a:t>데이터 처리, 로직 구현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96512" y="1508760"/>
            <a:ext cx="34747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96512" y="1508760"/>
            <a:ext cx="3474720" cy="73152"/>
          </a:xfrm>
          <a:prstGeom prst="rect">
            <a:avLst/>
          </a:prstGeom>
          <a:solidFill>
            <a:srgbClr val="1A4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33672" y="161848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4DB3"/>
                </a:solidFill>
                <a:latin typeface="맑은 고딕"/>
              </a:rPr>
              <a:t>웹 프레임워크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33672" y="185623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461"/>
                </a:solidFill>
                <a:latin typeface="맑은 고딕"/>
              </a:rPr>
              <a:t>Streamlit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33672" y="22860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A7485"/>
                </a:solidFill>
                <a:latin typeface="맑은 고딕"/>
              </a:rPr>
              <a:t>멀티페이지 대시보드 구성, 세션 관리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27264" y="1508760"/>
            <a:ext cx="34747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27264" y="1508760"/>
            <a:ext cx="3474720" cy="73152"/>
          </a:xfrm>
          <a:prstGeom prst="rect">
            <a:avLst/>
          </a:prstGeom>
          <a:solidFill>
            <a:srgbClr val="1A4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64424" y="161848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4DB3"/>
                </a:solidFill>
                <a:latin typeface="맑은 고딕"/>
              </a:rPr>
              <a:t>데이터 분석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64424" y="185623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461"/>
                </a:solidFill>
                <a:latin typeface="맑은 고딕"/>
              </a:rPr>
              <a:t>Pandas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64424" y="22860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A7485"/>
                </a:solidFill>
                <a:latin typeface="맑은 고딕"/>
              </a:rPr>
              <a:t>CSV 로드, 집계, 필터링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063240"/>
            <a:ext cx="34747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063240"/>
            <a:ext cx="3474720" cy="73152"/>
          </a:xfrm>
          <a:prstGeom prst="rect">
            <a:avLst/>
          </a:prstGeom>
          <a:solidFill>
            <a:srgbClr val="1A4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17296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4DB3"/>
                </a:solidFill>
                <a:latin typeface="맑은 고딕"/>
              </a:rPr>
              <a:t>데이터 시각화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41071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461"/>
                </a:solidFill>
                <a:latin typeface="맑은 고딕"/>
              </a:rPr>
              <a:t>Plotly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8404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A7485"/>
                </a:solidFill>
                <a:latin typeface="맑은 고딕"/>
              </a:rPr>
              <a:t>인터랙티브 차트 (막대, 방사형, 도넛, 게이지)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96512" y="3063240"/>
            <a:ext cx="34747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096512" y="3063240"/>
            <a:ext cx="3474720" cy="73152"/>
          </a:xfrm>
          <a:prstGeom prst="rect">
            <a:avLst/>
          </a:prstGeom>
          <a:solidFill>
            <a:srgbClr val="1A4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33672" y="317296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4DB3"/>
                </a:solidFill>
                <a:latin typeface="맑은 고딕"/>
              </a:rPr>
              <a:t>생성형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33672" y="341071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461"/>
                </a:solidFill>
                <a:latin typeface="맑은 고딕"/>
              </a:rPr>
              <a:t>Gemini 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33672" y="38404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A7485"/>
                </a:solidFill>
                <a:latin typeface="맑은 고딕"/>
              </a:rPr>
              <a:t>gemini-2.5-flash 모델, 스트리밍 응답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27264" y="3063240"/>
            <a:ext cx="34747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27264" y="3063240"/>
            <a:ext cx="3474720" cy="73152"/>
          </a:xfrm>
          <a:prstGeom prst="rect">
            <a:avLst/>
          </a:prstGeom>
          <a:solidFill>
            <a:srgbClr val="1A4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64424" y="317296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4DB3"/>
                </a:solidFill>
                <a:latin typeface="맑은 고딕"/>
              </a:rPr>
              <a:t>환경 설정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64424" y="341071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461"/>
                </a:solidFill>
                <a:latin typeface="맑은 고딕"/>
              </a:rPr>
              <a:t>python-dotenv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64424" y="38404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A7485"/>
                </a:solidFill>
                <a:latin typeface="맑은 고딕"/>
              </a:rPr>
              <a:t>API 키 보안 관리 (secrets.toml)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659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기능 소개 ① — 시간대 &amp; 요일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E"/>
                </a:solidFill>
                <a:latin typeface="맑은 고딕"/>
              </a:rPr>
              <a:t>Module 01 · 2019년 경찰청 공공데이터 기준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539496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64008" cy="4937760"/>
          </a:xfrm>
          <a:prstGeom prst="rect">
            <a:avLst/>
          </a:prstGeom>
          <a:solidFill>
            <a:srgbClr val="1A4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1848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4DB3"/>
                </a:solidFill>
                <a:latin typeface="맑은 고딕"/>
              </a:rPr>
              <a:t>FEATURE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3794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2461"/>
                </a:solidFill>
                <a:latin typeface="맑은 고딕"/>
              </a:rPr>
              <a:t>주요 기능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94560"/>
            <a:ext cx="516636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8개 시간대 구간별 범죄 발생 막대 차트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요일별(월~일) 발생 빈도 방사형(Polar) 차트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범죄 대분류 비율 도넛 차트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범죄 발생 TOP 5 유형 수평 막대 차트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실시간 위험도 분석 게이지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  · 현재 시각 기반 자동 위험 구간 표시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  · 안전 / 유의 / 위험 / 고위험 4단계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508760"/>
            <a:ext cx="539496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508760"/>
            <a:ext cx="64008" cy="2194560"/>
          </a:xfrm>
          <a:prstGeom prst="rect">
            <a:avLst/>
          </a:prstGeom>
          <a:solidFill>
            <a:srgbClr val="1A4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61848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4DB3"/>
                </a:solidFill>
                <a:latin typeface="맑은 고딕"/>
              </a:rPr>
              <a:t>FILTER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83794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2461"/>
                </a:solidFill>
                <a:latin typeface="맑은 고딕"/>
              </a:rPr>
              <a:t>필터 기능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194560"/>
            <a:ext cx="5166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범죄 대분류 선택 (강력범죄, 절도범죄 등)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범죄 중분류 선택 (살인, 강도, 사기 등)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선택에 따라 모든 차트 실시간 업데이트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886200"/>
            <a:ext cx="53949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3886200"/>
            <a:ext cx="64008" cy="2560320"/>
          </a:xfrm>
          <a:prstGeom prst="rect">
            <a:avLst/>
          </a:prstGeom>
          <a:solidFill>
            <a:srgbClr val="1A4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99592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4DB3"/>
                </a:solidFill>
                <a:latin typeface="맑은 고딕"/>
              </a:rPr>
              <a:t>INSIGHT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21538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2461"/>
                </a:solidFill>
                <a:latin typeface="맑은 고딕"/>
              </a:rPr>
              <a:t>주요 인사이트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572000"/>
            <a:ext cx="51663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21~24시 범죄 발생 건수가 전체 최다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금요일·토요일 발생 빈도 높음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절도·폭행이 대부분 시간대 1~2위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새벽 0~6시는 상대적으로 낮지만 강력범죄 비율↑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659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기능 소개 ② — 장소별 통계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E"/>
                </a:solidFill>
                <a:latin typeface="맑은 고딕"/>
              </a:rPr>
              <a:t>Module 02 · 2024년 경찰청 공공데이터 기준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539496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64008" cy="4937760"/>
          </a:xfrm>
          <a:prstGeom prst="rect">
            <a:avLst/>
          </a:prstGeom>
          <a:solidFill>
            <a:srgbClr val="1A4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1848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4DB3"/>
                </a:solidFill>
                <a:latin typeface="맑은 고딕"/>
              </a:rPr>
              <a:t>FEATURE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3794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2461"/>
                </a:solidFill>
                <a:latin typeface="맑은 고딕"/>
              </a:rPr>
              <a:t>주요 기능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94560"/>
            <a:ext cx="516636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5개 카테고리별 범죄 발생 막대 차트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  · 주거시설 / 도로·교통 / 상업시설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  · 유흥·숙박 / 공공·교육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TOP 10 위험 장소 수평 막대 차트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선택 장소별 범죄 유형 도넛 차트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범죄 대분류·중분류 필터링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장소 선택 드롭다운 (TOP 15 장소)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508760"/>
            <a:ext cx="539496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508760"/>
            <a:ext cx="64008" cy="2194560"/>
          </a:xfrm>
          <a:prstGeom prst="rect">
            <a:avLst/>
          </a:prstGeom>
          <a:solidFill>
            <a:srgbClr val="1A4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61848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4DB3"/>
                </a:solidFill>
                <a:latin typeface="맑은 고딕"/>
              </a:rPr>
              <a:t>CATEGORY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83794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2461"/>
                </a:solidFill>
                <a:latin typeface="맑은 고딕"/>
              </a:rPr>
              <a:t>장소 카테고리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194560"/>
            <a:ext cx="5166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주거시설: 단독주택, 아파트, 오피스텔 등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도로/교통: 일반도로, 골목길, 고속도로 등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상업시설: 편의점, 슈퍼마켓, 시장 등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유흥/숙박: 음식점, 주점, 숙박업소 등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공공/교육: 학교, 공원, 관공서 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886200"/>
            <a:ext cx="53949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3886200"/>
            <a:ext cx="64008" cy="2560320"/>
          </a:xfrm>
          <a:prstGeom prst="rect">
            <a:avLst/>
          </a:prstGeom>
          <a:solidFill>
            <a:srgbClr val="1A4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99592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4DB3"/>
                </a:solidFill>
                <a:latin typeface="맑은 고딕"/>
              </a:rPr>
              <a:t>INSIGHT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21538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2461"/>
                </a:solidFill>
                <a:latin typeface="맑은 고딕"/>
              </a:rPr>
              <a:t>주요 인사이트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572000"/>
            <a:ext cx="51663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일반도로 범죄 발생 건수 전체 1위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주거시설(아파트) 절도 범죄 비율 높음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주점·유흥업소 폭행 범죄 집중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편의점 야간 절도 위험 높음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659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기능 소개 ③ — 안전이 챗봇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E"/>
                </a:solidFill>
                <a:latin typeface="맑은 고딕"/>
              </a:rPr>
              <a:t>Module 03 · Gemini AI 기반 맞춤형 안전 상담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713232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64008" cy="4937760"/>
          </a:xfrm>
          <a:prstGeom prst="rect">
            <a:avLst/>
          </a:prstGeom>
          <a:solidFill>
            <a:srgbClr val="1A4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18488"/>
            <a:ext cx="6949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4DB3"/>
                </a:solidFill>
                <a:latin typeface="맑은 고딕"/>
              </a:rPr>
              <a:t>FEATURE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37944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2461"/>
                </a:solidFill>
                <a:latin typeface="맑은 고딕"/>
              </a:rPr>
              <a:t>주요 기능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94560"/>
            <a:ext cx="69037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경찰관 캐릭터 '안전이' 기반 친근한 UI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방문 예정 시간 + 장소 입력 시 맞춤 안전 정보 제공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실시간 날짜·요일 인식 ('내일', '이번 주말' 자동 계산)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응답 형식: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  · 📊 해당 시간대·장소 주요 범죄 유형 &amp; 수치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  · ⚠️ 위험도 평가 (낮음/보통/높음)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  · 🛡️ 범죄 유형별 맞춤 예방 수칙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대화 기록 JSON 파일 영구 저장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예시 질문 버튼으로 빠른 상담 시작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503 오류 시 자동 폴백 모델 전환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1508760"/>
            <a:ext cx="402336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0" y="1508760"/>
            <a:ext cx="64008" cy="2331720"/>
          </a:xfrm>
          <a:prstGeom prst="rect">
            <a:avLst/>
          </a:prstGeom>
          <a:solidFill>
            <a:srgbClr val="1A4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1618488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4DB3"/>
                </a:solidFill>
                <a:latin typeface="맑은 고딕"/>
              </a:rPr>
              <a:t>AI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1837944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2461"/>
                </a:solidFill>
                <a:latin typeface="맑은 고딕"/>
              </a:rPr>
              <a:t>AI 모델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2194560"/>
            <a:ext cx="3794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기본: gemini-2.5-flash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폴백: gemini-2.0-flash (서버 과부하 시)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최대 출력: 4,096 토큰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시스템 프롬프트: 범죄 통계 데이터 포함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4023360"/>
            <a:ext cx="402336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0" y="4023360"/>
            <a:ext cx="64008" cy="2423160"/>
          </a:xfrm>
          <a:prstGeom prst="rect">
            <a:avLst/>
          </a:prstGeom>
          <a:solidFill>
            <a:srgbClr val="1A4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09560" y="4133088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4DB3"/>
                </a:solidFill>
                <a:latin typeface="맑은 고딕"/>
              </a:rPr>
              <a:t>EXAMPLE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4352544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2461"/>
                </a:solidFill>
                <a:latin typeface="맑은 고딕"/>
              </a:rPr>
              <a:t>예시 질문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4709160"/>
            <a:ext cx="3794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밤 11시에 편의점에 가도 안전할까요?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주말 저녁 공원 산책해도 괜찮을까요?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새벽 2시 귀가 시 주의할 점은?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금요일 밤 주점 근처를 지나야 해요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659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주요 분석 결과 및 인사이트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E"/>
                </a:solidFill>
                <a:latin typeface="맑은 고딕"/>
              </a:rPr>
              <a:t>Key Findings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539496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64008" cy="21488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6459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A84C"/>
                </a:solidFill>
                <a:latin typeface="맑은 고딕"/>
              </a:rPr>
              <a:t>🕐 시간대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93852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2461"/>
                </a:solidFill>
                <a:latin typeface="맑은 고딕"/>
              </a:rPr>
              <a:t>21~24시 최다 발생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331720"/>
            <a:ext cx="5120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전체 범죄의 약 18% 집중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귀가 시간대 집중 주의 필요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새벽 0~6시는 건수 적으나 강력범죄 비율↑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554480"/>
            <a:ext cx="539496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554480"/>
            <a:ext cx="64008" cy="21488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6459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A84C"/>
                </a:solidFill>
                <a:latin typeface="맑은 고딕"/>
              </a:rPr>
              <a:t>📅 요일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193852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2461"/>
                </a:solidFill>
                <a:latin typeface="맑은 고딕"/>
              </a:rPr>
              <a:t>금·토 집중 발생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331720"/>
            <a:ext cx="5120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주말 야간 유흥가 주변 위험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월요일 발생 건수 최저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주말 범죄는 폭행 비율 높음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886200"/>
            <a:ext cx="539496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886200"/>
            <a:ext cx="64008" cy="21488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39776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A84C"/>
                </a:solidFill>
                <a:latin typeface="맑은 고딕"/>
              </a:rPr>
              <a:t>📍 장소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427024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2461"/>
                </a:solidFill>
                <a:latin typeface="맑은 고딕"/>
              </a:rPr>
              <a:t>도로·주거 최다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4663440"/>
            <a:ext cx="5120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일반도로 전체 1위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아파트·단독주택 절도 빈발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주점 주변 폭행 위험 집중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886200"/>
            <a:ext cx="539496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3886200"/>
            <a:ext cx="64008" cy="21488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2" y="39776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A84C"/>
                </a:solidFill>
                <a:latin typeface="맑은 고딕"/>
              </a:rPr>
              <a:t>🚨 유형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427024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2461"/>
                </a:solidFill>
                <a:latin typeface="맑은 고딕"/>
              </a:rPr>
              <a:t>절도·폭행 1~2위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4663440"/>
            <a:ext cx="5120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절도: 주간 상업시설, 야간 주거지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폭행: 야간 유흥업소 밀집 지역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교통범죄: 도로·고속도로 집중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659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기대 효과 및 활용 방안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E"/>
                </a:solidFill>
                <a:latin typeface="맑은 고딕"/>
              </a:rPr>
              <a:t>Expected Effects &amp; Applications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347472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64008" cy="4937760"/>
          </a:xfrm>
          <a:prstGeom prst="rect">
            <a:avLst/>
          </a:prstGeom>
          <a:solidFill>
            <a:srgbClr val="1A4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1848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4DB3"/>
                </a:solidFill>
                <a:latin typeface="맑은 고딕"/>
              </a:rPr>
              <a:t>CITIZEN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37944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2461"/>
                </a:solidFill>
                <a:latin typeface="맑은 고딕"/>
              </a:rPr>
              <a:t>시민 활용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94560"/>
            <a:ext cx="32461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외출·귀가 전 범죄 위험도 확인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이사 지역 안전성 사전 파악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자녀 등하교 경로 위험도 확인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야간 활동 시 안전 수칙 숙지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AI 챗봇으로 즉각적인 안전 상담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508760"/>
            <a:ext cx="347472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508760"/>
            <a:ext cx="64008" cy="4937760"/>
          </a:xfrm>
          <a:prstGeom prst="rect">
            <a:avLst/>
          </a:prstGeom>
          <a:solidFill>
            <a:srgbClr val="1A4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161848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4DB3"/>
                </a:solidFill>
                <a:latin typeface="맑은 고딕"/>
              </a:rPr>
              <a:t>POLICY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1837944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2461"/>
                </a:solidFill>
                <a:latin typeface="맑은 고딕"/>
              </a:rPr>
              <a:t>정책 활용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2194560"/>
            <a:ext cx="32461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범죄 취약 시간대·장소 파악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경찰 순찰 경로 최적화 근거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CCTV 추가 설치 우선순위 결정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지역 치안 예산 배분 참고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범죄 예방 캠페인 대상 선정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1508760"/>
            <a:ext cx="393192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63840" y="1508760"/>
            <a:ext cx="64008" cy="4937760"/>
          </a:xfrm>
          <a:prstGeom prst="rect">
            <a:avLst/>
          </a:prstGeom>
          <a:solidFill>
            <a:srgbClr val="1A4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01000" y="1618488"/>
            <a:ext cx="3749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4DB3"/>
                </a:solidFill>
                <a:latin typeface="맑은 고딕"/>
              </a:rPr>
              <a:t>EXPANSION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1837944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2461"/>
                </a:solidFill>
                <a:latin typeface="맑은 고딕"/>
              </a:rPr>
              <a:t>확장 가능성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2194560"/>
            <a:ext cx="37033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실시간 데이터 연동 (Open API)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지도 기반 범죄 위험 히트맵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연도별 범죄 트렌드 추이 분석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사용자 위치 기반 맞춤 알림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다국어 지원 (외국인 관광객)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모바일 앱 전환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659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한계점 및 개선 방향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E"/>
                </a:solidFill>
                <a:latin typeface="맑은 고딕"/>
              </a:rPr>
              <a:t>Limitations &amp; Future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539496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64008" cy="4937760"/>
          </a:xfrm>
          <a:prstGeom prst="rect">
            <a:avLst/>
          </a:prstGeom>
          <a:solidFill>
            <a:srgbClr val="1A4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1848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4DB3"/>
                </a:solidFill>
                <a:latin typeface="맑은 고딕"/>
              </a:rPr>
              <a:t>LIMITATION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3794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2461"/>
                </a:solidFill>
                <a:latin typeface="맑은 고딕"/>
              </a:rPr>
              <a:t>현재 한계점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94560"/>
            <a:ext cx="516636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데이터 최신성: 2019년/2024년 기준으로 최신 동향 미반영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지역 세분화 부재: 전국 합산 데이터, 지역별 분석 불가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실시간 데이터 없음: 정적 CSV 파일 기반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AI 응답 정확도: 통계 기반이나 100% 정확 보장 어려움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지도 시각화 없음: 위치 기반 시각화 미구현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모바일 최적화 부족: 데스크톱 중심 레이아웃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508760"/>
            <a:ext cx="539496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508760"/>
            <a:ext cx="64008" cy="4937760"/>
          </a:xfrm>
          <a:prstGeom prst="rect">
            <a:avLst/>
          </a:prstGeom>
          <a:solidFill>
            <a:srgbClr val="1A4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61848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4DB3"/>
                </a:solidFill>
                <a:latin typeface="맑은 고딕"/>
              </a:rPr>
              <a:t>IMPROVEMENT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83794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2461"/>
                </a:solidFill>
                <a:latin typeface="맑은 고딕"/>
              </a:rPr>
              <a:t>개선 방향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194560"/>
            <a:ext cx="516636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경찰청 Open API 연동으로 실시간 데이터 갱신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시·군·구 단위 지역별 세분화 분석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카카오맵·네이버맵 기반 범죄 히트맵 구현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사용자 피드백 기반 AI 응답 품질 개선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반응형 디자인으로 모바일 최적화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A4660"/>
                </a:solidFill>
                <a:latin typeface="맑은 고딕"/>
              </a:rPr>
              <a:t>▸  연도별 범죄 트렌드 시계열 분석 추가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88952" cy="640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081528"/>
            <a:ext cx="12188952" cy="914400"/>
          </a:xfrm>
          <a:prstGeom prst="rect">
            <a:avLst/>
          </a:prstGeom>
          <a:solidFill>
            <a:srgbClr val="1A4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916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감사합니다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2724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맑은 고딕"/>
              </a:rPr>
              <a:t>경찰청 범죄 통계 대시보드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8C4F8"/>
                </a:solidFill>
                <a:latin typeface="맑은 고딕"/>
              </a:rPr>
              <a:t>공공데이터로 더 안전한 일상을 만들어갑니다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7220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99BB"/>
                </a:solidFill>
                <a:latin typeface="맑은 고딕"/>
              </a:rPr>
              <a:t>Python  ·  Streamlit  ·  Plotly  ·  Gemini AI  |  데이터 출처: 경찰청 공공데이터포털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